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17" r:id="rId3"/>
    <p:sldId id="293" r:id="rId4"/>
    <p:sldId id="307" r:id="rId5"/>
    <p:sldId id="294" r:id="rId6"/>
    <p:sldId id="315" r:id="rId7"/>
    <p:sldId id="309" r:id="rId8"/>
    <p:sldId id="310" r:id="rId9"/>
    <p:sldId id="299" r:id="rId10"/>
    <p:sldId id="312" r:id="rId11"/>
    <p:sldId id="318" r:id="rId12"/>
    <p:sldId id="319" r:id="rId13"/>
    <p:sldId id="320" r:id="rId14"/>
    <p:sldId id="321" r:id="rId15"/>
    <p:sldId id="322" r:id="rId16"/>
    <p:sldId id="323" r:id="rId17"/>
    <p:sldId id="313" r:id="rId18"/>
    <p:sldId id="31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1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3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A924D-AE0E-4648-93FE-8861FAB09D19}" type="datetimeFigureOut">
              <a:rPr lang="en-IN" smtClean="0"/>
              <a:pPr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3235F-500E-4143-B817-04756DF4AB6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37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3235F-500E-4143-B817-04756DF4AB6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31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3235F-500E-4143-B817-04756DF4AB65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73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8;p13">
            <a:extLst>
              <a:ext uri="{FF2B5EF4-FFF2-40B4-BE49-F238E27FC236}">
                <a16:creationId xmlns:a16="http://schemas.microsoft.com/office/drawing/2014/main" id="{17ADC189-A3AC-2B0B-375F-E98FFDBB94A1}"/>
              </a:ext>
            </a:extLst>
          </p:cNvPr>
          <p:cNvSpPr txBox="1"/>
          <p:nvPr/>
        </p:nvSpPr>
        <p:spPr>
          <a:xfrm>
            <a:off x="1301339" y="2289143"/>
            <a:ext cx="9589321" cy="84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Computer Vision Framework For Crop Disease Detection, Classification, And Precision Agricultural Analysis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17E0A1B0-DFA4-A1DE-646E-2789865EA93B}"/>
              </a:ext>
            </a:extLst>
          </p:cNvPr>
          <p:cNvSpPr txBox="1"/>
          <p:nvPr/>
        </p:nvSpPr>
        <p:spPr>
          <a:xfrm>
            <a:off x="8014123" y="4461010"/>
            <a:ext cx="4092533" cy="1793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000" b="1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Presented by</a:t>
            </a:r>
          </a:p>
          <a:p>
            <a:pPr marL="365125" lvl="1">
              <a:spcBef>
                <a:spcPts val="5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Konjeti Pavan Deekshith 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192412172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)</a:t>
            </a:r>
          </a:p>
          <a:p>
            <a:pPr marL="365125" lvl="1">
              <a:spcBef>
                <a:spcPts val="5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Sunil Kumar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192425292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)</a:t>
            </a:r>
          </a:p>
          <a:p>
            <a:pPr marL="365125" lvl="1">
              <a:spcBef>
                <a:spcPts val="5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Yasodha Krishna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192472100</a:t>
            </a:r>
            <a:r>
              <a:rPr lang="en-US" sz="20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1838B1-ADFD-1969-5167-33FE8C0D0E76}"/>
              </a:ext>
            </a:extLst>
          </p:cNvPr>
          <p:cNvSpPr txBox="1"/>
          <p:nvPr/>
        </p:nvSpPr>
        <p:spPr>
          <a:xfrm>
            <a:off x="2822022" y="382298"/>
            <a:ext cx="6238088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  <a:buClr>
                <a:srgbClr val="EB220C"/>
              </a:buClr>
              <a:buSzPts val="6032"/>
            </a:pPr>
            <a: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2400" b="1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5441B-6C83-EDCA-5EA7-7183A998A48E}"/>
              </a:ext>
            </a:extLst>
          </p:cNvPr>
          <p:cNvSpPr txBox="1"/>
          <p:nvPr/>
        </p:nvSpPr>
        <p:spPr>
          <a:xfrm>
            <a:off x="2178172" y="3369769"/>
            <a:ext cx="7323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ITA0502-COMPUTER 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07D76-FB9A-17C1-2139-426A7D7A3F1D}"/>
              </a:ext>
            </a:extLst>
          </p:cNvPr>
          <p:cNvSpPr txBox="1"/>
          <p:nvPr/>
        </p:nvSpPr>
        <p:spPr>
          <a:xfrm>
            <a:off x="516101" y="4616884"/>
            <a:ext cx="416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 . R C Jeni Gracia, AP / CSE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Sasi Rekha, Prof/CSE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CC340E-4CAF-AC7E-3059-AB9FA05578FF}"/>
              </a:ext>
            </a:extLst>
          </p:cNvPr>
          <p:cNvSpPr txBox="1"/>
          <p:nvPr/>
        </p:nvSpPr>
        <p:spPr>
          <a:xfrm>
            <a:off x="4976622" y="741110"/>
            <a:ext cx="1945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375716-ACA4-8E67-B686-738C86B8362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20098A-08A6-5879-B42A-9B8F1FF328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750000" y="1850000"/>
            <a:ext cx="5350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1. Introduction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2. Literature Review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3. Problem Statement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4. Objectives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5. System Architecture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6. Module 1: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Image Selection &amp; Preprocessing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7. Module 2: Feature Extraction &amp; Classification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8. Module 3: Prediction &amp; Result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1850000"/>
            <a:ext cx="5350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9. Module 4: Model Training &amp; Optimization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10. Module 5: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Integration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11. Results and Discussion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12. Screenshot – Implementation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13. Application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14. Conclusion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15. References</a:t>
            </a:r>
          </a:p>
        </p:txBody>
      </p:sp>
    </p:spTree>
    <p:extLst>
      <p:ext uri="{BB962C8B-B14F-4D97-AF65-F5344CB8AC3E}">
        <p14:creationId xmlns:p14="http://schemas.microsoft.com/office/powerpoint/2010/main" val="24338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AAF5-65DE-78DC-CD65-7EC30356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5008-E2A6-6A0F-4B09-5CB0F523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50" y="38496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23D70-83F6-8415-A205-6E5227C1816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A2D121-13F0-E523-2487-CB669AB6007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868E69-680C-195C-E929-6465FA09D9B7}"/>
              </a:ext>
            </a:extLst>
          </p:cNvPr>
          <p:cNvSpPr txBox="1"/>
          <p:nvPr/>
        </p:nvSpPr>
        <p:spPr>
          <a:xfrm>
            <a:off x="516950" y="1920240"/>
            <a:ext cx="10627601" cy="3787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a foundational sector supporting global food production and economic stability. However, plant diseases significantly threaten crop yields and product quality.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inspection methods rely heavily on human visual judgment, making them subjective, slow, and prone to error.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recent advancements in Computer Vision and image processing, plant leaf images can be processed and analyzed automatically to identify crop diseases.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a deep learning-based image classification model trained using a plant disease image dataset. The trained model is integrated into a web application where the provided leaf images can be selected for disease prediction.</a:t>
            </a:r>
          </a:p>
        </p:txBody>
      </p:sp>
    </p:spTree>
    <p:extLst>
      <p:ext uri="{BB962C8B-B14F-4D97-AF65-F5344CB8AC3E}">
        <p14:creationId xmlns:p14="http://schemas.microsoft.com/office/powerpoint/2010/main" val="3390506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49760-9E0C-6944-1CF0-D194553F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EC49-3A67-7B79-B36E-EA5DA937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352" y="277258"/>
            <a:ext cx="10619794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D821E-7C9B-B96E-41C9-7C46A48941E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77316"/>
            <a:ext cx="1098599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A9891B-7997-60AF-CA2C-5B7201A10AA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77316"/>
            <a:ext cx="1471210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92316003-E04C-6079-0B44-E5863E9B4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8976"/>
            <a:ext cx="256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686670"/>
              </p:ext>
            </p:extLst>
          </p:nvPr>
        </p:nvGraphicFramePr>
        <p:xfrm>
          <a:off x="353961" y="1620143"/>
          <a:ext cx="11400000" cy="517495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4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Image-Based Plant Disease Classification Using SVM and 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classification using texture &amp; color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Time-consuming preprocessing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Approaches for Crop Disease Detection Using CNN and VGG16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accuracy, automatic feature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datasets, high computation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Deep Learning Models (ResNet, DenseNet) with Transfer Learning for Plant Disease Diagnosis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accuracy, robust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models, expensive hardware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Smart Agriculture Systems Using CNN and IoT for Real-Time Disease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detection, smart farming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implementation, high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36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92E6A-010F-70A6-7824-96B9426C2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4755-892F-2366-4555-93F122125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204" y="191626"/>
            <a:ext cx="8657372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B3503-C8D4-A87F-C1AF-E3E0B5A6418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FD6671-4189-A29F-02CD-D3ED0E46E41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3263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A7509F59-172C-894C-961E-99F81BE68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BC9B4-4840-B67B-51D9-05F911D3DCAB}"/>
              </a:ext>
            </a:extLst>
          </p:cNvPr>
          <p:cNvSpPr txBox="1"/>
          <p:nvPr/>
        </p:nvSpPr>
        <p:spPr>
          <a:xfrm>
            <a:off x="5360656" y="1812810"/>
            <a:ext cx="683134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diseases lead to severe harvest reductions and critical economic losses for farming communities worldwide.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identification allows pathogens to spread rapidly across fields before corrective interventions can be deployed.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requires expert agronomist intervention, which is scarce and expensive.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automated computer vision-based system that analyzes leaf images and provides rapid crop disease classification with a clear prediction result.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CCD20-9349-2E66-73E1-F973DA00FFF1}"/>
              </a:ext>
            </a:extLst>
          </p:cNvPr>
          <p:cNvSpPr txBox="1"/>
          <p:nvPr/>
        </p:nvSpPr>
        <p:spPr>
          <a:xfrm>
            <a:off x="3048000" y="28763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E4A99AF-18A4-E98F-D46B-A55C0606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08" y="1734393"/>
            <a:ext cx="5314664" cy="463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050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CC6C-EE5F-25DF-4616-90EFDD56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73AD0-0587-CFB4-B960-CA638881D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243484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computer vision-based framework to identify crop leaf diseases from images and support early disease detection.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deep learning image classification model using a labeled plant disease image dataset.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subjective manual inspections with rapid, reliable computer algorithms.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web interface that allows users to select the provided leaf images and view the predicted disease and confidence score.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3C6FA-A726-5294-E12F-C591833533B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024F74-C308-B1F9-99B5-6C13FFB63BC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32634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Agronomy 14 03001 g002">
            <a:extLst>
              <a:ext uri="{FF2B5EF4-FFF2-40B4-BE49-F238E27FC236}">
                <a16:creationId xmlns:a16="http://schemas.microsoft.com/office/drawing/2014/main" id="{B69EE46D-AF13-0B62-6F06-3CE7467FE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779640"/>
            <a:ext cx="4855291" cy="421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08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9D953-0046-6696-680E-273C5460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6962-8AD2-8183-E6F4-C98E02AB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50" y="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CC6D5-56F7-1839-C66D-8394B4C64C5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777" y="18466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860EAB-7F08-6791-7B87-E7B44475D03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3096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EAE5F5B9-9A5D-47E3-B32D-8C3B7A3D1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132937" y="1213234"/>
            <a:ext cx="9926126" cy="5263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318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3D59-4E26-310B-1E92-80AC9E83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23613-C9DC-F31B-1295-EDDC43AC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469" y="339268"/>
            <a:ext cx="9021761" cy="104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Leaf Image Selection and Preprocessing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C3CAC-A818-952C-793A-659C9BABA5F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C38629-3FCC-41D0-1D36-D55017AB30F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8A24435-CFA0-880B-B0E8-9971C98E8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70419-638E-0762-10DD-254391EADB3F}"/>
              </a:ext>
            </a:extLst>
          </p:cNvPr>
          <p:cNvSpPr txBox="1"/>
          <p:nvPr/>
        </p:nvSpPr>
        <p:spPr>
          <a:xfrm>
            <a:off x="707036" y="1696980"/>
            <a:ext cx="11161876" cy="48217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Leaf Image Selection:</a:t>
            </a:r>
            <a:r>
              <a:rPr lang="en-US" sz="2000" dirty="0"/>
              <a:t> The web application provides a set of leaf images for analysis, and the user selects one of the provided images.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&amp; Standardization: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Uniform scaling of image resolutions to match network constraints. 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Data Augmentation:</a:t>
            </a:r>
            <a:r>
              <a:rPr lang="en-US" sz="2000" dirty="0"/>
              <a:t> Rotation, flipping, zooming, and brightness variation are applied to training images to improve model generalization.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Training Preprocessing:</a:t>
            </a:r>
            <a:r>
              <a:rPr lang="en-US" sz="2000" dirty="0"/>
              <a:t> Training images are resized, normalized, and augmented to improve model generalization and reduce overfitting.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Prediction Preprocessing:</a:t>
            </a:r>
            <a:r>
              <a:rPr lang="en-US" sz="2000" dirty="0"/>
              <a:t> The selected leaf image from the web application is resized and normalized according to the trained model's input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54061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D2B7-6336-BC56-2DC7-5D28BCB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7DFD-EE64-5247-17B9-F898EA69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330" y="339268"/>
            <a:ext cx="8246050" cy="104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Feature Extraction and Computer Vision Models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02874-9078-93BF-0157-996E61E449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9F6FA-6C53-CA1D-3794-F006546F515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D72A350-9ACF-EA49-5062-25F4BE5C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0770" y="2199934"/>
            <a:ext cx="10323198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deep learning model extracts important visual features such as leaf color, texture, shape, and disease patterns.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Learning: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the characteristic patterns associated with different healthy and diseased leaf classes during training.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features are used to classify the selected leaf image into its corresponding disease category.</a:t>
            </a:r>
          </a:p>
        </p:txBody>
      </p:sp>
    </p:spTree>
    <p:extLst>
      <p:ext uri="{BB962C8B-B14F-4D97-AF65-F5344CB8AC3E}">
        <p14:creationId xmlns:p14="http://schemas.microsoft.com/office/powerpoint/2010/main" val="2886577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D855-832F-511D-2783-A190E117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D6BD-1506-2E27-5C47-C795463CC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822" y="291480"/>
            <a:ext cx="9786551" cy="10628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PREDICTION AND RESULT VISUALIZATION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01C83-DF64-C3D3-9883-29B3EDD8D1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790ED2-72FE-BF17-8EDC-07B1F7CCA4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75748F31-8E8E-EF9D-6277-A7C4B7D30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3124" y="2206014"/>
            <a:ext cx="10772868" cy="389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Selection: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selects one of the provided leaf images from the web application for analysis.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leaf image is passed through the trained classification model to predict its disease category.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Visualization: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webpage displays the predicted disease and confidence score for the selected leaf image.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the corresponding disease class from the available trained categories.</a:t>
            </a:r>
          </a:p>
        </p:txBody>
      </p:sp>
    </p:spTree>
    <p:extLst>
      <p:ext uri="{BB962C8B-B14F-4D97-AF65-F5344CB8AC3E}">
        <p14:creationId xmlns:p14="http://schemas.microsoft.com/office/powerpoint/2010/main" val="261090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D855-832F-511D-2783-A190E117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D6BD-1506-2E27-5C47-C795463CC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822" y="291480"/>
            <a:ext cx="9786551" cy="10628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Model Training and Optimization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01C83-DF64-C3D3-9883-29B3EDD8D1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790ED2-72FE-BF17-8EDC-07B1F7CCA4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75748F31-8E8E-EF9D-6277-A7C4B7D30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1420" y="1451209"/>
            <a:ext cx="10772868" cy="5115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plant disease image dataset is divided into training, validation, and test sets for model development and performance evaluation.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deep learning classification model is trained using the training images and their corresponding disease labels.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Optimization: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training parameters such as learning rate, batch size, and number of epochs are adjusted to improve model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Control: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training techniques are used to improve validation performance and reduce overfitting.</a:t>
            </a:r>
          </a:p>
        </p:txBody>
      </p:sp>
    </p:spTree>
    <p:extLst>
      <p:ext uri="{BB962C8B-B14F-4D97-AF65-F5344CB8AC3E}">
        <p14:creationId xmlns:p14="http://schemas.microsoft.com/office/powerpoint/2010/main" val="2610909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D855-832F-511D-2783-A190E117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D6BD-1506-2E27-5C47-C795463CC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822" y="291480"/>
            <a:ext cx="9786551" cy="10628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WEB APPLICATION INTEGRATION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01C83-DF64-C3D3-9883-29B3EDD8D1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790ED2-72FE-BF17-8EDC-07B1F7CCA4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75748F31-8E8E-EF9D-6277-A7C4B7D30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1420" y="1555108"/>
            <a:ext cx="10772868" cy="5115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Integration: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disease classification model is integrated into the web application to process the selected leaf images.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Image Selection: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application provides a set of leaf images, and the user selects one of the provided images for prediction.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Display: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processing the selected image, the webpage displays the predicted disease and confidence score.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application provides a simple interface for selecting leaf images and viewing the prediction results.</a:t>
            </a:r>
          </a:p>
        </p:txBody>
      </p:sp>
    </p:spTree>
    <p:extLst>
      <p:ext uri="{BB962C8B-B14F-4D97-AF65-F5344CB8AC3E}">
        <p14:creationId xmlns:p14="http://schemas.microsoft.com/office/powerpoint/2010/main" val="261090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D2B7-6336-BC56-2DC7-5D28BCB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7DFD-EE64-5247-17B9-F898EA69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330" y="339268"/>
            <a:ext cx="8246050" cy="104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02874-9078-93BF-0157-996E61E449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9F6FA-6C53-CA1D-3794-F006546F515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D72A350-9ACF-EA49-5062-25F4BE5C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4816" y="1874996"/>
            <a:ext cx="10658232" cy="4197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is evaluated using test images to determine its disease classification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application successfully processes the provided leaf images and displays the predicted disease.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able to identify disease patterns from the selected leaf images based on the features learned during training.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may occur when different diseases have visually similar symptoms, highlighting the importance of a sufficiently large and diverse training dataset.</a:t>
            </a:r>
          </a:p>
        </p:txBody>
      </p:sp>
    </p:spTree>
    <p:extLst>
      <p:ext uri="{BB962C8B-B14F-4D97-AF65-F5344CB8AC3E}">
        <p14:creationId xmlns:p14="http://schemas.microsoft.com/office/powerpoint/2010/main" val="2886577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D2B7-6336-BC56-2DC7-5D28BCB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7DFD-EE64-5247-17B9-F898EA69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330" y="339268"/>
            <a:ext cx="8246050" cy="104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- IMPLEMENTATION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02874-9078-93BF-0157-996E61E449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9F6FA-6C53-CA1D-3794-F006546F515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D72A350-9ACF-EA49-5062-25F4BE5C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0770" y="2199934"/>
            <a:ext cx="10323198" cy="614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77DC43-E5B0-FA4D-6763-6FBA6923C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903" y="1632641"/>
            <a:ext cx="9101328" cy="441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577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D2B7-6336-BC56-2DC7-5D28BCB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7DFD-EE64-5247-17B9-F898EA69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330" y="339268"/>
            <a:ext cx="8246050" cy="104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02874-9078-93BF-0157-996E61E449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9F6FA-6C53-CA1D-3794-F006546F515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D72A350-9ACF-EA49-5062-25F4BE5C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0770" y="2199934"/>
            <a:ext cx="10323198" cy="3730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Growers: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web-based tool for analyzing selected leaf images and obtaining rapid disease predictions.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Advisors and Extension Services: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decision-support tool that assists in preliminary disease identification from leaf images.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Nurseries and Agri-Businesses: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screening of plant leaf images to support crop health monitoring and disease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2886577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D2B7-6336-BC56-2DC7-5D28BCB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7DFD-EE64-5247-17B9-F898EA69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330" y="339268"/>
            <a:ext cx="8246050" cy="104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02874-9078-93BF-0157-996E61E449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9F6FA-6C53-CA1D-3794-F006546F515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D72A350-9ACF-EA49-5062-25F4BE5C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3298" y="1806742"/>
            <a:ext cx="10323198" cy="3730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develops a deep learning-based system for classifying crop leaf diseases from images. The trained model is integrated into a web application where the provided leaf images can be selected for prediction.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a fast and consistent method for preliminary crop disease identification through a simple web interface.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can be extended to support more crops and diseases, real-time camera-based image capture, mobile deployment, and additional agricultural data for improved disease monitoring.</a:t>
            </a:r>
          </a:p>
        </p:txBody>
      </p:sp>
    </p:spTree>
    <p:extLst>
      <p:ext uri="{BB962C8B-B14F-4D97-AF65-F5344CB8AC3E}">
        <p14:creationId xmlns:p14="http://schemas.microsoft.com/office/powerpoint/2010/main" val="2886577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0318E4-F0A1-D202-C6A7-B0AEBCDCA7B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49EF47-52A9-AD2B-60A9-6E7DCB703E6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431956" y="601458"/>
            <a:ext cx="2598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42531" y="1787475"/>
            <a:ext cx="11011718" cy="36009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itchFamily="18" charset="0"/>
              </a:rPr>
              <a:t>Kuhn, M., &amp; Johnson, K. (2013). </a:t>
            </a:r>
            <a:r>
              <a:rPr kumimoji="0" lang="en-US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itchFamily="18" charset="0"/>
              </a:rPr>
              <a:t>Applied Predictive Modeling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. Springer.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Witten, I. H., Frank, E., Hall, M. A., &amp; Pal, C. (2016). </a:t>
            </a:r>
            <a:r>
              <a:rPr kumimoji="0" lang="en-US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itchFamily="18" charset="0"/>
              </a:rPr>
              <a:t>Data Mining: Practical Machine Learning Tools and Techniques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. Morgan Kaufmann.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R Core Team. (2023). </a:t>
            </a:r>
            <a:r>
              <a:rPr kumimoji="0" lang="en-US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itchFamily="18" charset="0"/>
              </a:rPr>
              <a:t>R: A Language and Environment for Statistical Computing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. R Foundation for Statistical Computing.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Times New Roman" pitchFamily="18" charset="0"/>
              </a:rPr>
              <a:t>Food and Agriculture Organization (FAO). (2022). </a:t>
            </a:r>
            <a:r>
              <a:rPr kumimoji="0" lang="en-US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itchFamily="18" charset="0"/>
              </a:rPr>
              <a:t>Plant Disease Management for Sustainable Agriculture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itchFamily="18" charset="0"/>
              </a:rPr>
              <a:t>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Plant Disease Dataset, obtained from Kaggle and used for model training and evaluation.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721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13ED9-493C-2F2C-82D5-53E0E2551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510" y="548984"/>
            <a:ext cx="8558979" cy="606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4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2110</TotalTime>
  <Words>1340</Words>
  <Application>Microsoft Office PowerPoint</Application>
  <PresentationFormat>Widescreen</PresentationFormat>
  <Paragraphs>115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INTRODUCTION</vt:lpstr>
      <vt:lpstr>LITERATURE REVIEW</vt:lpstr>
      <vt:lpstr>PROBLEM STATEMENT</vt:lpstr>
      <vt:lpstr>Objectives</vt:lpstr>
      <vt:lpstr>SYSTEM ARCHITECTURE</vt:lpstr>
      <vt:lpstr>MODULE 1: Leaf Image Selection and Preprocessing</vt:lpstr>
      <vt:lpstr>MODULE 2: Feature Extraction and Computer Vision Models</vt:lpstr>
      <vt:lpstr>MODULE 3: PREDICTION AND RESULT VISUALIZATION</vt:lpstr>
      <vt:lpstr>MODULE 4: Model Training and Optimization</vt:lpstr>
      <vt:lpstr>MODULE 5: WEB APPLICATION INTEGRATION</vt:lpstr>
      <vt:lpstr>RESULTS AND DISCUSSION</vt:lpstr>
      <vt:lpstr>SCREENSHOT - IMPLEMENTATION</vt:lpstr>
      <vt:lpstr>APPLICATION</vt:lpstr>
      <vt:lpstr>CONCLUSION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</dc:title>
  <dc:creator>Rohan</dc:creator>
  <cp:keywords>SSE</cp:keywords>
  <cp:lastModifiedBy>Pavan Deekshith Konjeti</cp:lastModifiedBy>
  <cp:revision>122</cp:revision>
  <dcterms:created xsi:type="dcterms:W3CDTF">2013-01-27T09:14:16Z</dcterms:created>
  <dcterms:modified xsi:type="dcterms:W3CDTF">2026-08-20T08:42:36Z</dcterms:modified>
</cp:coreProperties>
</file>