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17" r:id="rId3"/>
    <p:sldId id="293" r:id="rId4"/>
    <p:sldId id="315" r:id="rId5"/>
    <p:sldId id="294" r:id="rId6"/>
    <p:sldId id="307" r:id="rId7"/>
    <p:sldId id="309" r:id="rId8"/>
    <p:sldId id="310" r:id="rId9"/>
    <p:sldId id="299" r:id="rId10"/>
    <p:sldId id="312" r:id="rId11"/>
    <p:sldId id="313" r:id="rId12"/>
    <p:sldId id="31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1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3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A924D-AE0E-4648-93FE-8861FAB09D19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3235F-500E-4143-B817-04756DF4AB6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37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3235F-500E-4143-B817-04756DF4AB6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3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8;p13">
            <a:extLst>
              <a:ext uri="{FF2B5EF4-FFF2-40B4-BE49-F238E27FC236}">
                <a16:creationId xmlns:a16="http://schemas.microsoft.com/office/drawing/2014/main" id="{17ADC189-A3AC-2B0B-375F-E98FFDBB94A1}"/>
              </a:ext>
            </a:extLst>
          </p:cNvPr>
          <p:cNvSpPr txBox="1"/>
          <p:nvPr/>
        </p:nvSpPr>
        <p:spPr>
          <a:xfrm>
            <a:off x="1301339" y="2289143"/>
            <a:ext cx="9589321" cy="84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Computer Vision Framework For Crop Disease Detection, Classification, And Precision Agricultural Analysis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17E0A1B0-DFA4-A1DE-646E-2789865EA93B}"/>
              </a:ext>
            </a:extLst>
          </p:cNvPr>
          <p:cNvSpPr txBox="1"/>
          <p:nvPr/>
        </p:nvSpPr>
        <p:spPr>
          <a:xfrm>
            <a:off x="8014123" y="4461010"/>
            <a:ext cx="4092533" cy="1793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0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pPr marL="365125" lvl="1">
              <a:spcBef>
                <a:spcPts val="550"/>
              </a:spcBef>
            </a:pPr>
            <a:r>
              <a:rPr lang="en-US" dirty="0"/>
              <a:t>Konjeti Pavan Deekshith 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(</a:t>
            </a:r>
            <a:r>
              <a:rPr lang="en-US" dirty="0"/>
              <a:t>192412172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)</a:t>
            </a:r>
          </a:p>
          <a:p>
            <a:pPr marL="365125" lvl="1">
              <a:spcBef>
                <a:spcPts val="550"/>
              </a:spcBef>
            </a:pPr>
            <a:r>
              <a:rPr lang="en-US" dirty="0"/>
              <a:t>V Sunil Kumar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(</a:t>
            </a:r>
            <a:r>
              <a:rPr lang="en-US" dirty="0"/>
              <a:t>192425292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)</a:t>
            </a:r>
          </a:p>
          <a:p>
            <a:pPr marL="365125" lvl="1">
              <a:spcBef>
                <a:spcPts val="550"/>
              </a:spcBef>
            </a:pPr>
            <a:r>
              <a:rPr lang="en-US" dirty="0"/>
              <a:t>M Yasodha Krishna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(</a:t>
            </a:r>
            <a:r>
              <a:rPr lang="en-US" dirty="0"/>
              <a:t>192472100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)</a:t>
            </a:r>
            <a:endParaRPr lang="en-US" sz="2000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838B1-ADFD-1969-5167-33FE8C0D0E76}"/>
              </a:ext>
            </a:extLst>
          </p:cNvPr>
          <p:cNvSpPr txBox="1"/>
          <p:nvPr/>
        </p:nvSpPr>
        <p:spPr>
          <a:xfrm>
            <a:off x="2822022" y="382298"/>
            <a:ext cx="6238088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  <a:buClr>
                <a:srgbClr val="EB220C"/>
              </a:buClr>
              <a:buSzPts val="6032"/>
            </a:pPr>
            <a: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5441B-6C83-EDCA-5EA7-7183A998A48E}"/>
              </a:ext>
            </a:extLst>
          </p:cNvPr>
          <p:cNvSpPr txBox="1"/>
          <p:nvPr/>
        </p:nvSpPr>
        <p:spPr>
          <a:xfrm>
            <a:off x="2178172" y="3369769"/>
            <a:ext cx="7323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ITA0502-COMPUTER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07D76-FB9A-17C1-2139-426A7D7A3F1D}"/>
              </a:ext>
            </a:extLst>
          </p:cNvPr>
          <p:cNvSpPr txBox="1"/>
          <p:nvPr/>
        </p:nvSpPr>
        <p:spPr>
          <a:xfrm>
            <a:off x="516101" y="4616884"/>
            <a:ext cx="416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</a:p>
          <a:p>
            <a:r>
              <a:rPr lang="en-US" dirty="0"/>
              <a:t>Mrs . R C Jeni Gracia, AP / CSE</a:t>
            </a:r>
          </a:p>
          <a:p>
            <a:r>
              <a:rPr lang="en-US" b="1" dirty="0"/>
              <a:t>Program Director :</a:t>
            </a:r>
          </a:p>
          <a:p>
            <a:r>
              <a:rPr lang="en-US" dirty="0"/>
              <a:t> Dr. Sasi Rekha, Prof/CSE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CC340E-4CAF-AC7E-3059-AB9FA05578FF}"/>
              </a:ext>
            </a:extLst>
          </p:cNvPr>
          <p:cNvSpPr txBox="1"/>
          <p:nvPr/>
        </p:nvSpPr>
        <p:spPr>
          <a:xfrm>
            <a:off x="4976622" y="741110"/>
            <a:ext cx="1945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375716-ACA4-8E67-B686-738C86B8362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20098A-08A6-5879-B42A-9B8F1FF328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82C4BC-EB24-3EF2-AED9-AB3A70CF6CF1}"/>
              </a:ext>
            </a:extLst>
          </p:cNvPr>
          <p:cNvSpPr txBox="1"/>
          <p:nvPr/>
        </p:nvSpPr>
        <p:spPr>
          <a:xfrm>
            <a:off x="1001268" y="2324576"/>
            <a:ext cx="624078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(What this project does):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an computer vision and deep learning system that analyzes plant leaf images to instantly detect, classify, and localize agricultural crop diseases, helping farmers take early preventive measures.</a:t>
            </a:r>
          </a:p>
        </p:txBody>
      </p:sp>
      <p:pic>
        <p:nvPicPr>
          <p:cNvPr id="13" name="Picture 2" descr="Limitations and Challenges">
            <a:extLst>
              <a:ext uri="{FF2B5EF4-FFF2-40B4-BE49-F238E27FC236}">
                <a16:creationId xmlns:a16="http://schemas.microsoft.com/office/drawing/2014/main" id="{949C9E0D-D47F-EA22-6B90-5C7A08C3F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342" y="1988475"/>
            <a:ext cx="4418843" cy="397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8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AAF5-65DE-78DC-CD65-7EC30356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5008-E2A6-6A0F-4B09-5CB0F523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38496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23D70-83F6-8415-A205-6E5227C1816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A2D121-13F0-E523-2487-CB669AB600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868E69-680C-195C-E929-6465FA09D9B7}"/>
              </a:ext>
            </a:extLst>
          </p:cNvPr>
          <p:cNvSpPr txBox="1"/>
          <p:nvPr/>
        </p:nvSpPr>
        <p:spPr>
          <a:xfrm>
            <a:off x="516950" y="1920240"/>
            <a:ext cx="10627601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a foundational sector supporting global food production and economic stability. However, plant diseases significantly threaten crop yields and product quality.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inspection methods rely heavily on human visual judgment, making them subjective, slow, and prone to error.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recent advancements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image processing, it is now possible to automatically capture, process, and analyze plant leaf imagery to diagnose diseases with high precision.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leverages advanced computer vision pipelines and deep learning architectures to instantly detect, classify, and localize agricultural pathologies from visual data.</a:t>
            </a:r>
          </a:p>
        </p:txBody>
      </p:sp>
    </p:spTree>
    <p:extLst>
      <p:ext uri="{BB962C8B-B14F-4D97-AF65-F5344CB8AC3E}">
        <p14:creationId xmlns:p14="http://schemas.microsoft.com/office/powerpoint/2010/main" val="3390506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CC6C-EE5F-25DF-4616-90EFDD56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73AD0-0587-CFB4-B960-CA638881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243484" cy="4525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automated computer vision framework to identify crop leaf diseases early and minimize yield loss.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deep learning object detection and classification models on rich agricultural image repositories (e.g., Plant Village).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subjective manual inspections with rapid, reliable computer algorithms.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clear user interface and visual heatmaps/bounding boxes to assist users without specialized expert knowledge.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3C6FA-A726-5294-E12F-C591833533B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24F74-C308-B1F9-99B5-6C13FFB63BC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32634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Agronomy 14 03001 g002">
            <a:extLst>
              <a:ext uri="{FF2B5EF4-FFF2-40B4-BE49-F238E27FC236}">
                <a16:creationId xmlns:a16="http://schemas.microsoft.com/office/drawing/2014/main" id="{B69EE46D-AF13-0B62-6F06-3CE7467FE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779640"/>
            <a:ext cx="4855291" cy="421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08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2E6A-010F-70A6-7824-96B9426C2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4755-892F-2366-4555-93F122125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204" y="191626"/>
            <a:ext cx="8657372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B3503-C8D4-A87F-C1AF-E3E0B5A6418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D6671-4189-A29F-02CD-D3ED0E46E41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3263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A7509F59-172C-894C-961E-99F81BE68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BC9B4-4840-B67B-51D9-05F911D3DCAB}"/>
              </a:ext>
            </a:extLst>
          </p:cNvPr>
          <p:cNvSpPr txBox="1"/>
          <p:nvPr/>
        </p:nvSpPr>
        <p:spPr>
          <a:xfrm>
            <a:off x="5360656" y="1812810"/>
            <a:ext cx="683134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diseases lead to severe harvest reductions and critical economic losses for farming communities worldwide.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identification allows pathogens to spread rapidly across fields before corrective interventions can be deployed.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requires expert agronomist intervention, which is scarce and expensive.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automated, computer vision-driven diagnostic system that analyzes visual leaf patterns to spot anomalies instantly, localizes infection zones, and delivers prompt diagnostic results.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CCD20-9349-2E66-73E1-F973DA00FFF1}"/>
              </a:ext>
            </a:extLst>
          </p:cNvPr>
          <p:cNvSpPr txBox="1"/>
          <p:nvPr/>
        </p:nvSpPr>
        <p:spPr>
          <a:xfrm>
            <a:off x="3048000" y="28763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E4A99AF-18A4-E98F-D46B-A55C0606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08" y="1734393"/>
            <a:ext cx="5314664" cy="463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050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9760-9E0C-6944-1CF0-D194553F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EC49-3A67-7B79-B36E-EA5DA937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52" y="277258"/>
            <a:ext cx="10619794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D821E-7C9B-B96E-41C9-7C46A48941E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77316"/>
            <a:ext cx="1098599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A9891B-7997-60AF-CA2C-5B7201A10AA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77316"/>
            <a:ext cx="1471210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92316003-E04C-6079-0B44-E5863E9B4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8976"/>
            <a:ext cx="256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2613AA-794D-A1B7-21AE-C5A7D6DC0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428573"/>
              </p:ext>
            </p:extLst>
          </p:nvPr>
        </p:nvGraphicFramePr>
        <p:xfrm>
          <a:off x="353961" y="1620143"/>
          <a:ext cx="11631480" cy="524968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674706">
                  <a:extLst>
                    <a:ext uri="{9D8B030D-6E8A-4147-A177-3AD203B41FA5}">
                      <a16:colId xmlns:a16="http://schemas.microsoft.com/office/drawing/2014/main" val="1369059032"/>
                    </a:ext>
                  </a:extLst>
                </a:gridCol>
                <a:gridCol w="1671315">
                  <a:extLst>
                    <a:ext uri="{9D8B030D-6E8A-4147-A177-3AD203B41FA5}">
                      <a16:colId xmlns:a16="http://schemas.microsoft.com/office/drawing/2014/main" val="3454676708"/>
                    </a:ext>
                  </a:extLst>
                </a:gridCol>
                <a:gridCol w="2311394">
                  <a:extLst>
                    <a:ext uri="{9D8B030D-6E8A-4147-A177-3AD203B41FA5}">
                      <a16:colId xmlns:a16="http://schemas.microsoft.com/office/drawing/2014/main" val="2874730180"/>
                    </a:ext>
                  </a:extLst>
                </a:gridCol>
                <a:gridCol w="1991355">
                  <a:extLst>
                    <a:ext uri="{9D8B030D-6E8A-4147-A177-3AD203B41FA5}">
                      <a16:colId xmlns:a16="http://schemas.microsoft.com/office/drawing/2014/main" val="607397287"/>
                    </a:ext>
                  </a:extLst>
                </a:gridCol>
                <a:gridCol w="1991355">
                  <a:extLst>
                    <a:ext uri="{9D8B030D-6E8A-4147-A177-3AD203B41FA5}">
                      <a16:colId xmlns:a16="http://schemas.microsoft.com/office/drawing/2014/main" val="4214556814"/>
                    </a:ext>
                  </a:extLst>
                </a:gridCol>
                <a:gridCol w="1991355">
                  <a:extLst>
                    <a:ext uri="{9D8B030D-6E8A-4147-A177-3AD203B41FA5}">
                      <a16:colId xmlns:a16="http://schemas.microsoft.com/office/drawing/2014/main" val="1536329721"/>
                    </a:ext>
                  </a:extLst>
                </a:gridCol>
              </a:tblGrid>
              <a:tr h="574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Author / Study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Techniques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Dataset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080963"/>
                  </a:ext>
                </a:extLst>
              </a:tr>
              <a:tr h="1059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Image-based Disease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SVM,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Leaf image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Improved classification using texture &amp; color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Time-consuming preprocessing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251718"/>
                  </a:ext>
                </a:extLst>
              </a:tr>
              <a:tr h="1203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Deep Learning for Crop Disease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CNN, VGG16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Large image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 accuracy, automatic 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Requires large datasets, high computation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727214"/>
                  </a:ext>
                </a:extLst>
              </a:tr>
              <a:tr h="1197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Advanced Deep Learning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ResNet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DenseNet</a:t>
                      </a:r>
                      <a:r>
                        <a:rPr lang="en-IN" sz="1600" dirty="0"/>
                        <a:t>, Transfer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High-resolution plant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Very high accuracy, robust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Complex models, expensive 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956261"/>
                  </a:ext>
                </a:extLst>
              </a:tr>
              <a:tr h="1203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AI-based Smart Agriculture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CNN + IoT + Hybrid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Image + Sensor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detection, smart farming solutions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Complex implementation,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47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36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9D953-0046-6696-680E-273C5460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6962-8AD2-8183-E6F4-C98E02AB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CC6D5-56F7-1839-C66D-8394B4C64C5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860EAB-7F08-6791-7B87-E7B44475D0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EAE5F5B9-9A5D-47E3-B32D-8C3B7A3D1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6" name="Picture 4" descr="Deep Learning-Based Leaf Disease Detection in Crops Using Images for  Agricultural Application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63330" y="1213234"/>
            <a:ext cx="9237346" cy="5263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318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3D59-4E26-310B-1E92-80AC9E83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3613-C9DC-F31B-1295-EDDC43AC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469" y="339268"/>
            <a:ext cx="9021761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Image Acquisition and Preprocessing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C3CAC-A818-952C-793A-659C9BABA5F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C38629-3FCC-41D0-1D36-D55017AB30F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8A24435-CFA0-880B-B0E8-9971C98E8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70419-638E-0762-10DD-254391EADB3F}"/>
              </a:ext>
            </a:extLst>
          </p:cNvPr>
          <p:cNvSpPr txBox="1"/>
          <p:nvPr/>
        </p:nvSpPr>
        <p:spPr>
          <a:xfrm>
            <a:off x="771044" y="2026508"/>
            <a:ext cx="10933275" cy="3037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Gathering raw leaf and crop images from agricultural datasets or live field cameras. 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&amp; Standardization: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Uniform scaling of image resolutions to match network constraints. 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&amp; Cleaning: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Randomizing orientations, adjusting lighting profiles, removing background noise, and normalizing pixel intensities to enhance model generalization. </a:t>
            </a:r>
          </a:p>
        </p:txBody>
      </p:sp>
    </p:spTree>
    <p:extLst>
      <p:ext uri="{BB962C8B-B14F-4D97-AF65-F5344CB8AC3E}">
        <p14:creationId xmlns:p14="http://schemas.microsoft.com/office/powerpoint/2010/main" val="354061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D2B7-6336-BC56-2DC7-5D28BCB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7DFD-EE64-5247-17B9-F898EA69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330" y="339268"/>
            <a:ext cx="8246050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Feature Extraction and Computer Vision Models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2874-9078-93BF-0157-996E61E449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9F6FA-6C53-CA1D-3794-F006546F515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D72A350-9ACF-EA49-5062-25F4BE5C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0770" y="2199934"/>
            <a:ext cx="10323198" cy="2460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Implementation: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powerful pre-trained models and backbone networks (e.g., DenseNet121, ResNet, YOLO architectures) optimized for spatial feature extraction.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&amp; Bounding: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grid mapping, anchor boxes, and confidence score assignments to pinpoint precise infection boundaries on plant leaves. </a:t>
            </a:r>
          </a:p>
        </p:txBody>
      </p:sp>
    </p:spTree>
    <p:extLst>
      <p:ext uri="{BB962C8B-B14F-4D97-AF65-F5344CB8AC3E}">
        <p14:creationId xmlns:p14="http://schemas.microsoft.com/office/powerpoint/2010/main" val="2886577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D855-832F-511D-2783-A190E117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D6BD-1506-2E27-5C47-C795463C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822" y="291480"/>
            <a:ext cx="9786551" cy="10628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PREDICTION AND RESULT VISUALIZATION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01C83-DF64-C3D3-9883-29B3EDD8D1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90ED2-72FE-BF17-8EDC-07B1F7CCA4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75748F31-8E8E-EF9D-6277-A7C4B7D30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3124" y="2206014"/>
            <a:ext cx="10772868" cy="2223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Generation: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test samples through the trained computer vision network to classify healthy versus diseased states.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 &amp; Analytics: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Rendering bounding boxes, class probabilities, and diagnostic summaries on a responsive user dashboard to assist with rapid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61090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0318E4-F0A1-D202-C6A7-B0AEBCDCA7B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49EF47-52A9-AD2B-60A9-6E7DCB703E6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431956" y="601458"/>
            <a:ext cx="2598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42531" y="1787475"/>
            <a:ext cx="11011718" cy="36009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Kuhn, M., &amp; Johnson, K. (2013).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Applied Predictive Modeling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. Springer.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Witten, I. H., Frank, E., Hall, M. A., &amp; Pal, C. (2016).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Data Mining: Practical Machine Learning Tools and Techniques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. Morgan Kaufmann.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R Core Team. (2023).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R: A Language and Environment for Statistical Computing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. R Foundation for Statistical Computing.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Food and Agriculture Organization (FAO). (2022).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Plant Disease Management for Sustainable Agriculture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Agricultural datasets and crop disease information obtained from 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Kaggle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 Agricultural Datasets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 and other open research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72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13ED9-493C-2F2C-82D5-53E0E2551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510" y="548984"/>
            <a:ext cx="8558979" cy="60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4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</TotalTime>
  <Words>769</Words>
  <Application>Microsoft Office PowerPoint</Application>
  <PresentationFormat>Widescreen</PresentationFormat>
  <Paragraphs>77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INTRODUCTION</vt:lpstr>
      <vt:lpstr>Objectives</vt:lpstr>
      <vt:lpstr>PROBLEM IDENTIFICATION AND ANALYSIS</vt:lpstr>
      <vt:lpstr>LITERATURE REVIEW</vt:lpstr>
      <vt:lpstr>SYSTEM ARCHITECTURE</vt:lpstr>
      <vt:lpstr>MODULE 1: Image Acquisition and Preprocessing</vt:lpstr>
      <vt:lpstr>MODULE 2: Feature Extraction and Computer Vision Models</vt:lpstr>
      <vt:lpstr>MODULE 3: PREDICTION AND RESULT VISUALIZATION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creator>Rohan</dc:creator>
  <cp:keywords>SSE</cp:keywords>
  <cp:lastModifiedBy>Pavan Deekshith Konjeti</cp:lastModifiedBy>
  <cp:revision>119</cp:revision>
  <dcterms:created xsi:type="dcterms:W3CDTF">2013-01-27T09:14:16Z</dcterms:created>
  <dcterms:modified xsi:type="dcterms:W3CDTF">2026-07-24T17:00:10Z</dcterms:modified>
</cp:coreProperties>
</file>